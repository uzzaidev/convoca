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822960"/>
            <a:ext cx="2468880" cy="2468880"/>
          </a:xfrm>
          <a:prstGeom prst="ellipse">
            <a:avLst/>
          </a:prstGeom>
          <a:solidFill>
            <a:srgbClr val="D8F1E4">
              <a:alpha val="86000"/>
            </a:srgbClr>
          </a:solidFill>
          <a:ln w="12700">
            <a:solidFill>
              <a:srgbClr val="D8F1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800600"/>
            <a:ext cx="2377440" cy="2377440"/>
          </a:xfrm>
          <a:prstGeom prst="ellipse">
            <a:avLst/>
          </a:prstGeom>
          <a:solidFill>
            <a:srgbClr val="E6EEF8">
              <a:alpha val="72000"/>
            </a:srgbClr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786384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48672" y="786384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68712" y="786384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48672" y="960120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79024" y="786384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48672" y="1133856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89336" y="786384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1307592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731520"/>
            <a:ext cx="1865376" cy="310896"/>
          </a:xfrm>
          <a:prstGeom prst="roundRect">
            <a:avLst>
              <a:gd name="adj" fmla="val 29412"/>
            </a:avLst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813816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Apresentação comercial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914400" y="122529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6A34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CONVO</a:t>
            </a:r>
            <a:pPr indent="0" marL="0">
              <a:buNone/>
            </a:pPr>
            <a:r>
              <a:rPr lang="en-US" sz="370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914400" y="2103120"/>
            <a:ext cx="4892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2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plataforma que profissionaliza</a:t>
            </a:r>
            <a:endParaRPr lang="en-US" sz="2320" dirty="0"/>
          </a:p>
          <a:p>
            <a:pPr indent="0" marL="0">
              <a:buNone/>
            </a:pPr>
            <a:r>
              <a:rPr lang="en-US" sz="232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operação da sua pelada.</a:t>
            </a:r>
            <a:endParaRPr lang="en-US" sz="2320" dirty="0"/>
          </a:p>
        </p:txBody>
      </p:sp>
      <p:sp>
        <p:nvSpPr>
          <p:cNvPr id="17" name="Text 15"/>
          <p:cNvSpPr/>
          <p:nvPr/>
        </p:nvSpPr>
        <p:spPr>
          <a:xfrm>
            <a:off x="932688" y="3364992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 grupos, confirma presença, forma times, acompanha rankings e fecha o caixa do grupo com padrão real de produto.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914400" y="4590288"/>
            <a:ext cx="1682496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590288"/>
            <a:ext cx="1682496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77316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6A34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Presença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097280" y="502920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 de vagas, espera automática e posição preferencial.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2816352" y="4590288"/>
            <a:ext cx="1682496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16352" y="4590288"/>
            <a:ext cx="1682496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9232" y="477316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Times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999232" y="502920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discussão na montagem e mais clareza na escalação.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4718304" y="4590288"/>
            <a:ext cx="1682496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4590288"/>
            <a:ext cx="1682496" cy="73152"/>
          </a:xfrm>
          <a:prstGeom prst="rect">
            <a:avLst/>
          </a:prstGeom>
          <a:solidFill>
            <a:srgbClr val="0F5F3F"/>
          </a:solidFill>
          <a:ln w="12700">
            <a:solidFill>
              <a:srgbClr val="0F5F3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477316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Caixa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4901184" y="502920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Pendências, cobranças e total recebido no mesmo fluxo.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6729984" y="896112"/>
            <a:ext cx="4389120" cy="5376672"/>
          </a:xfrm>
          <a:prstGeom prst="roundRect">
            <a:avLst>
              <a:gd name="adj" fmla="val 3333"/>
            </a:avLst>
          </a:prstGeom>
          <a:solidFill>
            <a:srgbClr val="FBFCFD"/>
          </a:solidFill>
          <a:ln w="12700">
            <a:solidFill>
              <a:srgbClr val="E5EAEE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9984" y="896112"/>
            <a:ext cx="4389120" cy="64008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90688" y="676656"/>
            <a:ext cx="2359152" cy="5468112"/>
          </a:xfrm>
          <a:prstGeom prst="roundRect">
            <a:avLst>
              <a:gd name="adj" fmla="val 10853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891272" y="777240"/>
            <a:ext cx="2157984" cy="5266944"/>
          </a:xfrm>
          <a:prstGeom prst="roundRect">
            <a:avLst>
              <a:gd name="adj" fmla="val 93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22792" y="804672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5" name="Image 0" descr="C:\Users\Luisf\Documents\GITHUB\peladeiros\docs\presentation\extracted-images\obj-022-417x9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1204815"/>
            <a:ext cx="2066544" cy="4484946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8695944" y="6025896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76288" y="1335024"/>
            <a:ext cx="1353312" cy="868680"/>
          </a:xfrm>
          <a:prstGeom prst="roundRect">
            <a:avLst>
              <a:gd name="adj" fmla="val 16842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040880" y="149961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18/18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7040880" y="1810512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confirmados</a:t>
            </a:r>
            <a:endParaRPr lang="en-US" sz="860" dirty="0"/>
          </a:p>
        </p:txBody>
      </p:sp>
      <p:sp>
        <p:nvSpPr>
          <p:cNvPr id="40" name="Shape 37"/>
          <p:cNvSpPr/>
          <p:nvPr/>
        </p:nvSpPr>
        <p:spPr>
          <a:xfrm>
            <a:off x="9290304" y="4443984"/>
            <a:ext cx="1847088" cy="868680"/>
          </a:xfrm>
          <a:prstGeom prst="roundRect">
            <a:avLst>
              <a:gd name="adj" fmla="val 16842"/>
            </a:avLst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9454896" y="460857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R$ 1.105</a:t>
            </a:r>
            <a:endParaRPr lang="en-US" sz="1700" dirty="0"/>
          </a:p>
        </p:txBody>
      </p:sp>
      <p:sp>
        <p:nvSpPr>
          <p:cNvPr id="42" name="Text 39"/>
          <p:cNvSpPr/>
          <p:nvPr/>
        </p:nvSpPr>
        <p:spPr>
          <a:xfrm>
            <a:off x="9454896" y="4919472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recebidos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9528048" y="1700784"/>
            <a:ext cx="1719072" cy="182880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9656064" y="1828800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Visão de grupo</a:t>
            </a:r>
            <a:endParaRPr lang="en-US" sz="870" dirty="0"/>
          </a:p>
        </p:txBody>
      </p:sp>
      <p:pic>
        <p:nvPicPr>
          <p:cNvPr id="45" name="Image 1" descr="C:\Users\Luisf\Documents\GITHUB\peladeiros\docs\presentation\extracted-images\obj-033-417x9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783" y="2011680"/>
            <a:ext cx="573011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822960"/>
            <a:ext cx="2468880" cy="2468880"/>
          </a:xfrm>
          <a:prstGeom prst="ellipse">
            <a:avLst/>
          </a:prstGeom>
          <a:solidFill>
            <a:srgbClr val="D8F1E4">
              <a:alpha val="86000"/>
            </a:srgbClr>
          </a:solidFill>
          <a:ln w="12700">
            <a:solidFill>
              <a:srgbClr val="D8F1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800600"/>
            <a:ext cx="2377440" cy="2377440"/>
          </a:xfrm>
          <a:prstGeom prst="ellipse">
            <a:avLst/>
          </a:prstGeom>
          <a:solidFill>
            <a:srgbClr val="E6EEF8">
              <a:alpha val="72000"/>
            </a:srgbClr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201168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93792" y="2011680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13832" y="201168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93792" y="2185416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24144" y="201168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93792" y="2359152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34456" y="201168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93792" y="2532888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713232"/>
            <a:ext cx="1207008" cy="310896"/>
          </a:xfrm>
          <a:prstGeom prst="roundRect">
            <a:avLst>
              <a:gd name="adj" fmla="val 29412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795528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Problema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926080" y="1335024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anatomia do caos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304288" y="1920240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Hoje, a maioria das peladas ainda sobrevive no improviso.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822960" y="2340864"/>
            <a:ext cx="2907792" cy="168249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2340864"/>
            <a:ext cx="290779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52374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Bagunça no WhatsApp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1005840" y="28163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Convite, atraso, bola, PIX e escalação no mesmo lugar errado.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1024128" y="3090672"/>
            <a:ext cx="1225296" cy="310896"/>
          </a:xfrm>
          <a:prstGeom prst="roundRect">
            <a:avLst>
              <a:gd name="adj" fmla="val 26471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182112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Quem joga hoje?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67712" y="3090672"/>
            <a:ext cx="987552" cy="310896"/>
          </a:xfrm>
          <a:prstGeom prst="roundRect">
            <a:avLst>
              <a:gd name="adj" fmla="val 26471"/>
            </a:avLst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318211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Cadê o PIX?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88720" y="3419856"/>
            <a:ext cx="960120" cy="310896"/>
          </a:xfrm>
          <a:prstGeom prst="roundRect">
            <a:avLst>
              <a:gd name="adj" fmla="val 26471"/>
            </a:avLst>
          </a:prstGeom>
          <a:solidFill>
            <a:srgbClr val="EFF3F5"/>
          </a:solidFill>
          <a:ln w="12700">
            <a:solidFill>
              <a:srgbClr val="EFF3F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5112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Vou atrasar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94560" y="3419856"/>
            <a:ext cx="932688" cy="310896"/>
          </a:xfrm>
          <a:prstGeom prst="roundRect">
            <a:avLst>
              <a:gd name="adj" fmla="val 26471"/>
            </a:avLst>
          </a:prstGeom>
          <a:solidFill>
            <a:srgbClr val="F7E8E9"/>
          </a:solidFill>
          <a:ln w="12700">
            <a:solidFill>
              <a:srgbClr val="F7E8E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351129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Cancelou?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458200" y="2340864"/>
            <a:ext cx="2907792" cy="1682496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2340864"/>
            <a:ext cx="290779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252374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Planilhas desatualizadas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8641080" y="28163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financeiro e presença dependem de alguém lembrar de atualizar.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8705088" y="3108960"/>
            <a:ext cx="2414016" cy="100584"/>
          </a:xfrm>
          <a:prstGeom prst="rect">
            <a:avLst/>
          </a:prstGeom>
          <a:solidFill>
            <a:srgbClr val="E8EEF3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05088" y="3273552"/>
            <a:ext cx="2414016" cy="100584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05088" y="3438144"/>
            <a:ext cx="2414016" cy="100584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05088" y="3602736"/>
            <a:ext cx="2414016" cy="100584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00032" y="3090672"/>
            <a:ext cx="0" cy="566928"/>
          </a:xfrm>
          <a:prstGeom prst="line">
            <a:avLst/>
          </a:prstGeom>
          <a:noFill/>
          <a:ln w="10160">
            <a:solidFill>
              <a:srgbClr val="D3DA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85832" y="3090672"/>
            <a:ext cx="0" cy="566928"/>
          </a:xfrm>
          <a:prstGeom prst="line">
            <a:avLst/>
          </a:prstGeom>
          <a:noFill/>
          <a:ln w="10160">
            <a:solidFill>
              <a:srgbClr val="D3DA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53344" y="3090672"/>
            <a:ext cx="0" cy="566928"/>
          </a:xfrm>
          <a:prstGeom prst="line">
            <a:avLst/>
          </a:prstGeom>
          <a:noFill/>
          <a:ln w="10160">
            <a:solidFill>
              <a:srgbClr val="D3DA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12096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?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169664" y="2633472"/>
            <a:ext cx="3840480" cy="164592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96128" y="2816352"/>
            <a:ext cx="914400" cy="914400"/>
          </a:xfrm>
          <a:prstGeom prst="ellipse">
            <a:avLst/>
          </a:prstGeom>
          <a:solidFill>
            <a:srgbClr val="E7F5EC"/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6128" y="310896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36592" y="3803904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Operação improvisada</a:t>
            </a:r>
            <a:endParaRPr lang="en-US" sz="1580" dirty="0"/>
          </a:p>
        </p:txBody>
      </p:sp>
      <p:sp>
        <p:nvSpPr>
          <p:cNvPr id="45" name="Text 43"/>
          <p:cNvSpPr/>
          <p:nvPr/>
        </p:nvSpPr>
        <p:spPr>
          <a:xfrm>
            <a:off x="4590288" y="4023360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regra única, a resenha vira retrabalho, conflito e pouca previsibilidade.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822960" y="4443984"/>
            <a:ext cx="2907792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2960" y="4443984"/>
            <a:ext cx="2907792" cy="73152"/>
          </a:xfrm>
          <a:prstGeom prst="rect">
            <a:avLst/>
          </a:prstGeom>
          <a:solidFill>
            <a:srgbClr val="D8A84C"/>
          </a:solidFill>
          <a:ln w="12700">
            <a:solidFill>
              <a:srgbClr val="D8A84C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5840" y="46268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Presença fora de controle</a:t>
            </a:r>
            <a:endParaRPr lang="en-US" sz="1160" dirty="0"/>
          </a:p>
        </p:txBody>
      </p:sp>
      <p:sp>
        <p:nvSpPr>
          <p:cNvPr id="49" name="Text 47"/>
          <p:cNvSpPr/>
          <p:nvPr/>
        </p:nvSpPr>
        <p:spPr>
          <a:xfrm>
            <a:off x="1005840" y="49194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e lotação vivem espalhados entre mensagens e listas paralelas.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1042416" y="5321808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E7F5EC"/>
          </a:solidFill>
          <a:ln w="7620">
            <a:solidFill>
              <a:srgbClr val="D7DEE4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2416" y="5632704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EDF1F4"/>
          </a:solidFill>
          <a:ln w="7620">
            <a:solidFill>
              <a:srgbClr val="D7DEE4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99616" y="5321808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EDF1F4"/>
          </a:solidFill>
          <a:ln w="7620">
            <a:solidFill>
              <a:srgbClr val="D7DEE4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9616" y="5632704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E7F5EC"/>
          </a:solidFill>
          <a:ln w="7620">
            <a:solidFill>
              <a:srgbClr val="D7DEE4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56816" y="5321808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EDF1F4"/>
          </a:solidFill>
          <a:ln w="7620">
            <a:solidFill>
              <a:srgbClr val="D7DEE4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56816" y="5632704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FBF1D9"/>
          </a:solidFill>
          <a:ln w="7620">
            <a:solidFill>
              <a:srgbClr val="D7DEE4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14016" y="5321808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EDF1F4"/>
          </a:solidFill>
          <a:ln w="7620">
            <a:solidFill>
              <a:srgbClr val="D7DEE4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14016" y="5632704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EDF1F4"/>
          </a:solidFill>
          <a:ln w="7620">
            <a:solidFill>
              <a:srgbClr val="D7DEE4">
                <a:alpha val="8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78608" y="5321808"/>
            <a:ext cx="896112" cy="228600"/>
          </a:xfrm>
          <a:prstGeom prst="roundRect">
            <a:avLst>
              <a:gd name="adj" fmla="val 40000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78608" y="540410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18 confirmados</a:t>
            </a:r>
            <a:endParaRPr lang="en-US" sz="690" dirty="0"/>
          </a:p>
        </p:txBody>
      </p:sp>
      <p:sp>
        <p:nvSpPr>
          <p:cNvPr id="60" name="Shape 58"/>
          <p:cNvSpPr/>
          <p:nvPr/>
        </p:nvSpPr>
        <p:spPr>
          <a:xfrm>
            <a:off x="2578608" y="5614416"/>
            <a:ext cx="822960" cy="228600"/>
          </a:xfrm>
          <a:prstGeom prst="roundRect">
            <a:avLst>
              <a:gd name="adj" fmla="val 40000"/>
            </a:avLst>
          </a:prstGeom>
          <a:solidFill>
            <a:srgbClr val="FBF1D9"/>
          </a:solidFill>
          <a:ln w="12700">
            <a:solidFill>
              <a:srgbClr val="FBF1D9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78608" y="56967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D8A84C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 em espera</a:t>
            </a:r>
            <a:endParaRPr lang="en-US" sz="690" dirty="0"/>
          </a:p>
        </p:txBody>
      </p:sp>
      <p:sp>
        <p:nvSpPr>
          <p:cNvPr id="62" name="Shape 60"/>
          <p:cNvSpPr/>
          <p:nvPr/>
        </p:nvSpPr>
        <p:spPr>
          <a:xfrm>
            <a:off x="8458200" y="4443984"/>
            <a:ext cx="2907792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458200" y="4443984"/>
            <a:ext cx="2907792" cy="73152"/>
          </a:xfrm>
          <a:prstGeom prst="rect">
            <a:avLst/>
          </a:prstGeom>
          <a:solidFill>
            <a:srgbClr val="D66F73"/>
          </a:solidFill>
          <a:ln w="12700">
            <a:solidFill>
              <a:srgbClr val="D66F73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41080" y="462686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Caixa quebrado e calote</a:t>
            </a:r>
            <a:endParaRPr lang="en-US" sz="1160" dirty="0"/>
          </a:p>
        </p:txBody>
      </p:sp>
      <p:sp>
        <p:nvSpPr>
          <p:cNvPr id="65" name="Text 63"/>
          <p:cNvSpPr/>
          <p:nvPr/>
        </p:nvSpPr>
        <p:spPr>
          <a:xfrm>
            <a:off x="8641080" y="49194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grupo descobre tarde quem pagou, quem deve e quanto entrou.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8723376" y="5321808"/>
            <a:ext cx="2395728" cy="420624"/>
          </a:xfrm>
          <a:prstGeom prst="roundRect">
            <a:avLst>
              <a:gd name="adj" fmla="val 30435"/>
            </a:avLst>
          </a:prstGeom>
          <a:solidFill>
            <a:srgbClr val="F7EFF0"/>
          </a:solidFill>
          <a:ln w="12700">
            <a:solidFill>
              <a:srgbClr val="D66F73">
                <a:alpha val="72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69680" y="5385816"/>
            <a:ext cx="292608" cy="292608"/>
          </a:xfrm>
          <a:prstGeom prst="ellipse">
            <a:avLst/>
          </a:prstGeom>
          <a:solidFill>
            <a:srgbClr val="D66F73"/>
          </a:solidFill>
          <a:ln w="12700">
            <a:solidFill>
              <a:srgbClr val="D66F73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69680" y="546354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7EFF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!</a:t>
            </a:r>
            <a:endParaRPr lang="en-US" sz="660" dirty="0"/>
          </a:p>
        </p:txBody>
      </p:sp>
      <p:sp>
        <p:nvSpPr>
          <p:cNvPr id="69" name="Text 67"/>
          <p:cNvSpPr/>
          <p:nvPr/>
        </p:nvSpPr>
        <p:spPr>
          <a:xfrm>
            <a:off x="9272016" y="53766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João S.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272016" y="551383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R$ 25 pendente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8723376" y="5760720"/>
            <a:ext cx="2395728" cy="420624"/>
          </a:xfrm>
          <a:prstGeom prst="roundRect">
            <a:avLst>
              <a:gd name="adj" fmla="val 30435"/>
            </a:avLst>
          </a:prstGeom>
          <a:solidFill>
            <a:srgbClr val="FBF4E7"/>
          </a:solidFill>
          <a:ln w="12700">
            <a:solidFill>
              <a:srgbClr val="D8A84C">
                <a:alpha val="72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69680" y="5824728"/>
            <a:ext cx="292608" cy="292608"/>
          </a:xfrm>
          <a:prstGeom prst="ellipse">
            <a:avLst/>
          </a:prstGeom>
          <a:solidFill>
            <a:srgbClr val="D8A84C"/>
          </a:solidFill>
          <a:ln w="12700">
            <a:solidFill>
              <a:srgbClr val="D8A84C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869680" y="590245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BF4E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?</a:t>
            </a:r>
            <a:endParaRPr lang="en-US" sz="660" dirty="0"/>
          </a:p>
        </p:txBody>
      </p:sp>
      <p:sp>
        <p:nvSpPr>
          <p:cNvPr id="74" name="Text 72"/>
          <p:cNvSpPr/>
          <p:nvPr/>
        </p:nvSpPr>
        <p:spPr>
          <a:xfrm>
            <a:off x="9272016" y="581558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Pedro J.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272016" y="5952744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 sem baixa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1280160" y="6382512"/>
            <a:ext cx="9646920" cy="384048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2700">
            <a:solidFill>
              <a:srgbClr val="D9E1E6">
                <a:alpha val="5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08760" y="6492240"/>
            <a:ext cx="9189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Sem padrão de operação, a pelada perde tempo, clareza e dinheiro.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822960"/>
            <a:ext cx="2468880" cy="2468880"/>
          </a:xfrm>
          <a:prstGeom prst="ellipse">
            <a:avLst/>
          </a:prstGeom>
          <a:solidFill>
            <a:srgbClr val="D8F1E4">
              <a:alpha val="86000"/>
            </a:srgbClr>
          </a:solidFill>
          <a:ln w="12700">
            <a:solidFill>
              <a:srgbClr val="D8F1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800600"/>
            <a:ext cx="2377440" cy="2377440"/>
          </a:xfrm>
          <a:prstGeom prst="ellipse">
            <a:avLst/>
          </a:prstGeom>
          <a:solidFill>
            <a:srgbClr val="E6EEF8">
              <a:alpha val="72000"/>
            </a:srgbClr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84124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48672" y="841248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68712" y="84124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48672" y="1014984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79024" y="84124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48672" y="1188720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89336" y="84124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1362456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694944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777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Produto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859536" y="1170432"/>
            <a:ext cx="5212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Um sistema completo de gestão em um só lugar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9536" y="213969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9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grupo ao caixa, o Convoca centraliza a operação da pelada com experiência mobile-first.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896112" y="243230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 fluxo do produto acompanha a jornada inteira do grupo: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896112" y="2743200"/>
            <a:ext cx="4590288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0704" y="2852928"/>
            <a:ext cx="438912" cy="219456"/>
          </a:xfrm>
          <a:prstGeom prst="roundRect">
            <a:avLst>
              <a:gd name="adj" fmla="val 41667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2935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6A34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664208" y="2880360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Entrada e gestão do grupo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96112" y="3419856"/>
            <a:ext cx="4590288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704" y="3529584"/>
            <a:ext cx="438912" cy="219456"/>
          </a:xfrm>
          <a:prstGeom prst="roundRect">
            <a:avLst>
              <a:gd name="adj" fmla="val 41667"/>
            </a:avLst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3611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664208" y="3557016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Presença com posição preferencial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96112" y="4096512"/>
            <a:ext cx="4590288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0704" y="4206240"/>
            <a:ext cx="438912" cy="219456"/>
          </a:xfrm>
          <a:prstGeom prst="roundRect">
            <a:avLst>
              <a:gd name="adj" fmla="val 41667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28853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1664208" y="4233672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Histórico e resultado de jogo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96112" y="4773168"/>
            <a:ext cx="4590288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0704" y="4882896"/>
            <a:ext cx="438912" cy="219456"/>
          </a:xfrm>
          <a:prstGeom prst="roundRect">
            <a:avLst>
              <a:gd name="adj" fmla="val 41667"/>
            </a:avLst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496519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664208" y="4910328"/>
            <a:ext cx="3584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Ranking e saúde financeira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199632" y="987552"/>
            <a:ext cx="4572000" cy="5303520"/>
          </a:xfrm>
          <a:prstGeom prst="roundRect">
            <a:avLst>
              <a:gd name="adj" fmla="val 3200"/>
            </a:avLst>
          </a:prstGeom>
          <a:solidFill>
            <a:srgbClr val="FBFCFD"/>
          </a:solidFill>
          <a:ln w="12700">
            <a:solidFill>
              <a:srgbClr val="E5EAEE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84848" y="1097280"/>
            <a:ext cx="1901952" cy="4736592"/>
          </a:xfrm>
          <a:prstGeom prst="roundRect">
            <a:avLst>
              <a:gd name="adj" fmla="val 13462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85432" y="1197864"/>
            <a:ext cx="1700784" cy="4535424"/>
          </a:xfrm>
          <a:prstGeom prst="roundRect">
            <a:avLst>
              <a:gd name="adj" fmla="val 118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88352" y="1225296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8" name="Image 0" descr="C:\Users\Luisf\Documents\GITHUB\peladeiros\docs\presentation\extracted-images\obj-022-417x9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1755801"/>
            <a:ext cx="1609344" cy="3492701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7461504" y="571500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84848" y="5943600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Home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8961120" y="1353312"/>
            <a:ext cx="1773936" cy="4407408"/>
          </a:xfrm>
          <a:prstGeom prst="roundRect">
            <a:avLst>
              <a:gd name="adj" fmla="val 14433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061704" y="1453896"/>
            <a:ext cx="1572768" cy="4206240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500616" y="1481328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4" name="Image 1" descr="C:\Users\Luisf\Documents\GITHUB\peladeiros\docs\presentation\extracted-images\obj-023-417x9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424" y="1986156"/>
            <a:ext cx="1481328" cy="3214873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9573768" y="5641848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961120" y="587044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Confirmação</a:t>
            </a:r>
            <a:endParaRPr lang="en-US" sz="880" dirty="0"/>
          </a:p>
        </p:txBody>
      </p:sp>
      <p:sp>
        <p:nvSpPr>
          <p:cNvPr id="47" name="Shape 43"/>
          <p:cNvSpPr/>
          <p:nvPr/>
        </p:nvSpPr>
        <p:spPr>
          <a:xfrm>
            <a:off x="5961888" y="4535424"/>
            <a:ext cx="1353312" cy="1225296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6108192" y="4681728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Histórico</a:t>
            </a:r>
            <a:endParaRPr lang="en-US" sz="820" dirty="0"/>
          </a:p>
        </p:txBody>
      </p:sp>
      <p:pic>
        <p:nvPicPr>
          <p:cNvPr id="49" name="Image 2" descr="C:\Users\Luisf\Documents\GITHUB\peladeiros\docs\presentation\extracted-images\obj-024-367x79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908" y="4846320"/>
            <a:ext cx="337271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822960"/>
            <a:ext cx="2468880" cy="2468880"/>
          </a:xfrm>
          <a:prstGeom prst="ellipse">
            <a:avLst/>
          </a:prstGeom>
          <a:solidFill>
            <a:srgbClr val="D8F1E4">
              <a:alpha val="86000"/>
            </a:srgbClr>
          </a:solidFill>
          <a:ln w="12700">
            <a:solidFill>
              <a:srgbClr val="D8F1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800600"/>
            <a:ext cx="2377440" cy="2377440"/>
          </a:xfrm>
          <a:prstGeom prst="ellipse">
            <a:avLst/>
          </a:prstGeom>
          <a:solidFill>
            <a:srgbClr val="E6EEF8">
              <a:alpha val="72000"/>
            </a:srgbClr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12096" y="82296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02368" y="822960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22408" y="82296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02368" y="996696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0" y="82296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1170432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43032" y="82296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02368" y="1344168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694944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777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Módulos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859536" y="1170432"/>
            <a:ext cx="5669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Componentes claros para uma operação completa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9536" y="213969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9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módulo resolve um pedaço crítico da rotina e, junto, cria uma experiência de produto coesa para o grupo.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896112" y="2029968"/>
            <a:ext cx="5010912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2029968"/>
            <a:ext cx="109728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185416"/>
            <a:ext cx="438912" cy="219456"/>
          </a:xfrm>
          <a:prstGeom prst="roundRect">
            <a:avLst>
              <a:gd name="adj" fmla="val 41667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26771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6A34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664208" y="2194560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Grupos e partidas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1664208" y="2468880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 do grupo, jogo da semana, limites de vagas e configuração da operação.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896112" y="3054096"/>
            <a:ext cx="5010912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3054096"/>
            <a:ext cx="109728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3209544"/>
            <a:ext cx="438912" cy="219456"/>
          </a:xfrm>
          <a:prstGeom prst="roundRect">
            <a:avLst>
              <a:gd name="adj" fmla="val 41667"/>
            </a:avLst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29184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664208" y="3218688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Presença com intenção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1664208" y="3493008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Confirmação, fila de espera e posição preferencial com menos ruído operacional.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96112" y="4078224"/>
            <a:ext cx="5010912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6112" y="4078224"/>
            <a:ext cx="109728" cy="841248"/>
          </a:xfrm>
          <a:prstGeom prst="rect">
            <a:avLst/>
          </a:prstGeom>
          <a:solidFill>
            <a:srgbClr val="0F5F3F"/>
          </a:solidFill>
          <a:ln w="12700">
            <a:solidFill>
              <a:srgbClr val="0F5F3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4233672"/>
            <a:ext cx="438912" cy="219456"/>
          </a:xfrm>
          <a:prstGeom prst="roundRect">
            <a:avLst>
              <a:gd name="adj" fmla="val 41667"/>
            </a:avLst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43159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664208" y="424281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Histórico e rankings</a:t>
            </a:r>
            <a:endParaRPr lang="en-US" sz="1340" dirty="0"/>
          </a:p>
        </p:txBody>
      </p:sp>
      <p:sp>
        <p:nvSpPr>
          <p:cNvPr id="34" name="Text 32"/>
          <p:cNvSpPr/>
          <p:nvPr/>
        </p:nvSpPr>
        <p:spPr>
          <a:xfrm>
            <a:off x="1664208" y="4517136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Resultados, desempenho e memória esportiva do grupo em uma linha do tempo confiável.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96112" y="5102352"/>
            <a:ext cx="5010912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96112" y="5102352"/>
            <a:ext cx="109728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" y="5257800"/>
            <a:ext cx="438912" cy="219456"/>
          </a:xfrm>
          <a:prstGeom prst="roundRect">
            <a:avLst>
              <a:gd name="adj" fmla="val 41667"/>
            </a:avLst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534009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1664208" y="5266944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Financeiro e cobranças</a:t>
            </a:r>
            <a:endParaRPr lang="en-US" sz="1340" dirty="0"/>
          </a:p>
        </p:txBody>
      </p:sp>
      <p:sp>
        <p:nvSpPr>
          <p:cNvPr id="40" name="Text 38"/>
          <p:cNvSpPr/>
          <p:nvPr/>
        </p:nvSpPr>
        <p:spPr>
          <a:xfrm>
            <a:off x="1664208" y="5541264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Controle de pendências, baixas e caixa sem depender de planilha paralela.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327648" y="987552"/>
            <a:ext cx="4919472" cy="5449824"/>
          </a:xfrm>
          <a:prstGeom prst="roundRect">
            <a:avLst>
              <a:gd name="adj" fmla="val 2974"/>
            </a:avLst>
          </a:prstGeom>
          <a:solidFill>
            <a:srgbClr val="FBFCFD"/>
          </a:solidFill>
          <a:ln w="12700">
            <a:solidFill>
              <a:srgbClr val="E5EAEE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93408" y="1499616"/>
            <a:ext cx="1627632" cy="4169664"/>
          </a:xfrm>
          <a:prstGeom prst="roundRect">
            <a:avLst>
              <a:gd name="adj" fmla="val 15730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93992" y="1600200"/>
            <a:ext cx="1426464" cy="3968496"/>
          </a:xfrm>
          <a:prstGeom prst="roundRect">
            <a:avLst>
              <a:gd name="adj" fmla="val 1410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59752" y="1627632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5" name="Image 0" descr="C:\Users\Luisf\Documents\GITHUB\peladeiros\docs\presentation\extracted-images\obj-023-417x9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2" y="2172347"/>
            <a:ext cx="1335024" cy="2897354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7232904" y="5550408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93408" y="5961888"/>
            <a:ext cx="1627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Presença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8577072" y="1078992"/>
            <a:ext cx="1938528" cy="4700016"/>
          </a:xfrm>
          <a:prstGeom prst="roundRect">
            <a:avLst>
              <a:gd name="adj" fmla="val 13208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677656" y="1179576"/>
            <a:ext cx="1737360" cy="4498848"/>
          </a:xfrm>
          <a:prstGeom prst="roundRect">
            <a:avLst>
              <a:gd name="adj" fmla="val 1157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198864" y="1207008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1" name="Image 1" descr="C:\Users\Luisf\Documents\GITHUB\peladeiros\docs\presentation\extracted-images\obj-022-417x9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76" y="1679536"/>
            <a:ext cx="1645920" cy="3572081"/>
          </a:xfrm>
          <a:prstGeom prst="rect">
            <a:avLst/>
          </a:prstGeom>
        </p:spPr>
      </p:pic>
      <p:sp>
        <p:nvSpPr>
          <p:cNvPr id="52" name="Shape 48"/>
          <p:cNvSpPr/>
          <p:nvPr/>
        </p:nvSpPr>
        <p:spPr>
          <a:xfrm>
            <a:off x="9272016" y="5660136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8577072" y="5961888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Visão do grupo</a:t>
            </a:r>
            <a:endParaRPr lang="en-US" sz="880" dirty="0"/>
          </a:p>
        </p:txBody>
      </p:sp>
      <p:sp>
        <p:nvSpPr>
          <p:cNvPr id="54" name="Shape 50"/>
          <p:cNvSpPr/>
          <p:nvPr/>
        </p:nvSpPr>
        <p:spPr>
          <a:xfrm>
            <a:off x="10369296" y="1792224"/>
            <a:ext cx="969264" cy="3547872"/>
          </a:xfrm>
          <a:prstGeom prst="roundRect">
            <a:avLst>
              <a:gd name="adj" fmla="val 26415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10469880" y="1892808"/>
            <a:ext cx="768096" cy="3346704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0506456" y="1920240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7" name="Image 2" descr="C:\Users\Luisf\Documents\GITHUB\peladeiros\docs\presentation\extracted-images\obj-030-422x91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2870761"/>
            <a:ext cx="676656" cy="1463950"/>
          </a:xfrm>
          <a:prstGeom prst="rect">
            <a:avLst/>
          </a:prstGeom>
        </p:spPr>
      </p:pic>
      <p:sp>
        <p:nvSpPr>
          <p:cNvPr id="58" name="Shape 53"/>
          <p:cNvSpPr/>
          <p:nvPr/>
        </p:nvSpPr>
        <p:spPr>
          <a:xfrm>
            <a:off x="10579608" y="5221224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10369296" y="5961888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Caixa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822960"/>
            <a:ext cx="2468880" cy="2468880"/>
          </a:xfrm>
          <a:prstGeom prst="ellipse">
            <a:avLst/>
          </a:prstGeom>
          <a:solidFill>
            <a:srgbClr val="D8F1E4">
              <a:alpha val="86000"/>
            </a:srgbClr>
          </a:solidFill>
          <a:ln w="12700">
            <a:solidFill>
              <a:srgbClr val="D8F1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800600"/>
            <a:ext cx="2377440" cy="2377440"/>
          </a:xfrm>
          <a:prstGeom prst="ellipse">
            <a:avLst/>
          </a:prstGeom>
          <a:solidFill>
            <a:srgbClr val="E6EEF8">
              <a:alpha val="72000"/>
            </a:srgbClr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76" y="274320"/>
            <a:ext cx="0" cy="6327648"/>
          </a:xfrm>
          <a:prstGeom prst="line">
            <a:avLst/>
          </a:prstGeom>
          <a:noFill/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2624" y="2331720"/>
            <a:ext cx="2194560" cy="2194560"/>
          </a:xfrm>
          <a:prstGeom prst="ellipse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1417320"/>
            <a:ext cx="1828800" cy="4041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49256" y="1417320"/>
            <a:ext cx="1828800" cy="4041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2468880"/>
            <a:ext cx="603504" cy="1920240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4552" y="2468880"/>
            <a:ext cx="603504" cy="1920240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74980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749808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68712" y="74980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48672" y="923544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79024" y="74980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48672" y="1097280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89336" y="74980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48672" y="1271016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694944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777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Valor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87552" y="1170432"/>
            <a:ext cx="9966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 impacto imediato da profissionalização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87552" y="2139696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Convoca transforma uma pelada comum em uma operação previsível, competitiva e sem atrito.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987552" y="2048256"/>
            <a:ext cx="1019556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52144" y="2212848"/>
            <a:ext cx="4828032" cy="566928"/>
          </a:xfrm>
          <a:prstGeom prst="roundRect">
            <a:avLst>
              <a:gd name="adj" fmla="val 12903"/>
            </a:avLst>
          </a:prstGeom>
          <a:solidFill>
            <a:srgbClr val="EEF0F1"/>
          </a:solidFill>
          <a:ln w="12700">
            <a:solidFill>
              <a:srgbClr val="EEF0F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2212848"/>
            <a:ext cx="4855464" cy="566928"/>
          </a:xfrm>
          <a:prstGeom prst="roundRect">
            <a:avLst>
              <a:gd name="adj" fmla="val 12903"/>
            </a:avLst>
          </a:prstGeom>
          <a:solidFill>
            <a:srgbClr val="0F5F3F"/>
          </a:solidFill>
          <a:ln w="12700">
            <a:solidFill>
              <a:srgbClr val="0F5F3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2144" y="2359152"/>
            <a:ext cx="4828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Pelada comum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63056" y="2359152"/>
            <a:ext cx="4855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Experiência Convoca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52144" y="2916936"/>
            <a:ext cx="4828032" cy="713232"/>
          </a:xfrm>
          <a:prstGeom prst="roundRect">
            <a:avLst>
              <a:gd name="adj" fmla="val 10256"/>
            </a:avLst>
          </a:prstGeom>
          <a:solidFill>
            <a:srgbClr val="F3F5F5"/>
          </a:solidFill>
          <a:ln w="12700">
            <a:solidFill>
              <a:srgbClr val="E6EBEC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2916936"/>
            <a:ext cx="4855464" cy="713232"/>
          </a:xfrm>
          <a:prstGeom prst="roundRect">
            <a:avLst>
              <a:gd name="adj" fmla="val 10256"/>
            </a:avLst>
          </a:prstGeom>
          <a:solidFill>
            <a:srgbClr val="174D37"/>
          </a:solidFill>
          <a:ln w="12700">
            <a:solidFill>
              <a:srgbClr val="174D3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35024" y="3108960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Horas perdidas no WhatsApp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6382512" y="3108960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Automação e gestão em segundos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1152144" y="3767328"/>
            <a:ext cx="4828032" cy="713232"/>
          </a:xfrm>
          <a:prstGeom prst="roundRect">
            <a:avLst>
              <a:gd name="adj" fmla="val 10256"/>
            </a:avLst>
          </a:prstGeom>
          <a:solidFill>
            <a:srgbClr val="F3F5F5"/>
          </a:solidFill>
          <a:ln w="12700">
            <a:solidFill>
              <a:srgbClr val="E6EBEC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3056" y="3767328"/>
            <a:ext cx="4855464" cy="713232"/>
          </a:xfrm>
          <a:prstGeom prst="roundRect">
            <a:avLst>
              <a:gd name="adj" fmla="val 10256"/>
            </a:avLst>
          </a:prstGeom>
          <a:solidFill>
            <a:srgbClr val="16533D"/>
          </a:solidFill>
          <a:ln w="12700">
            <a:solidFill>
              <a:srgbClr val="174D3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35024" y="3959352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Risco de calote e prejuízo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6382512" y="3959352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Previsibilidade de caixa e pendências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1152144" y="4617720"/>
            <a:ext cx="4828032" cy="713232"/>
          </a:xfrm>
          <a:prstGeom prst="roundRect">
            <a:avLst>
              <a:gd name="adj" fmla="val 10256"/>
            </a:avLst>
          </a:prstGeom>
          <a:solidFill>
            <a:srgbClr val="F3F5F5"/>
          </a:solidFill>
          <a:ln w="12700">
            <a:solidFill>
              <a:srgbClr val="E6EBEC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4617720"/>
            <a:ext cx="4855464" cy="713232"/>
          </a:xfrm>
          <a:prstGeom prst="roundRect">
            <a:avLst>
              <a:gd name="adj" fmla="val 10256"/>
            </a:avLst>
          </a:prstGeom>
          <a:solidFill>
            <a:srgbClr val="174D37"/>
          </a:solidFill>
          <a:ln w="12700">
            <a:solidFill>
              <a:srgbClr val="174D3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35024" y="4809744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Jogos desequilibrados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6382512" y="4809744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Times nivelados por dados e presença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152144" y="5468112"/>
            <a:ext cx="4828032" cy="713232"/>
          </a:xfrm>
          <a:prstGeom prst="roundRect">
            <a:avLst>
              <a:gd name="adj" fmla="val 10256"/>
            </a:avLst>
          </a:prstGeom>
          <a:solidFill>
            <a:srgbClr val="F3F5F5"/>
          </a:solidFill>
          <a:ln w="12700">
            <a:solidFill>
              <a:srgbClr val="E6EBEC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63056" y="5468112"/>
            <a:ext cx="4855464" cy="713232"/>
          </a:xfrm>
          <a:prstGeom prst="roundRect">
            <a:avLst>
              <a:gd name="adj" fmla="val 10256"/>
            </a:avLst>
          </a:prstGeom>
          <a:solidFill>
            <a:srgbClr val="16533D"/>
          </a:solidFill>
          <a:ln w="12700">
            <a:solidFill>
              <a:srgbClr val="174D3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35024" y="5660136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Conflitos por times e dinheiro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6382512" y="5660136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Foco no jogo, não no retrabalho</a:t>
            </a:r>
            <a:endParaRPr lang="en-US" sz="1320" dirty="0"/>
          </a:p>
        </p:txBody>
      </p:sp>
      <p:sp>
        <p:nvSpPr>
          <p:cNvPr id="44" name="Shape 42"/>
          <p:cNvSpPr/>
          <p:nvPr/>
        </p:nvSpPr>
        <p:spPr>
          <a:xfrm>
            <a:off x="1389888" y="6419088"/>
            <a:ext cx="9601200" cy="329184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91056" y="6528816"/>
            <a:ext cx="9198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Transforma um jogo entre amigos em uma experiência organizada e competitiva.</a:t>
            </a:r>
            <a:endParaRPr lang="en-US" sz="12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685800"/>
            <a:ext cx="2103120" cy="2103120"/>
          </a:xfrm>
          <a:prstGeom prst="ellipse">
            <a:avLst/>
          </a:prstGeom>
          <a:solidFill>
            <a:srgbClr val="D9B160">
              <a:alpha val="28000"/>
            </a:srgbClr>
          </a:solidFill>
          <a:ln w="12700">
            <a:solidFill>
              <a:srgbClr val="D9B16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-685800"/>
            <a:ext cx="2103120" cy="2103120"/>
          </a:xfrm>
          <a:prstGeom prst="ellipse">
            <a:avLst/>
          </a:prstGeom>
          <a:solidFill>
            <a:srgbClr val="D9B160">
              <a:alpha val="28000"/>
            </a:srgbClr>
          </a:solidFill>
          <a:ln w="12700">
            <a:solidFill>
              <a:srgbClr val="D9B1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5257800"/>
            <a:ext cx="6217920" cy="1234440"/>
          </a:xfrm>
          <a:prstGeom prst="ellipse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101A25">
              <a:alpha val="0"/>
            </a:srgbClr>
          </a:solidFill>
          <a:ln w="12700">
            <a:solidFill>
              <a:srgbClr val="5A738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4476" y="274320"/>
            <a:ext cx="0" cy="6327648"/>
          </a:xfrm>
          <a:prstGeom prst="line">
            <a:avLst/>
          </a:prstGeom>
          <a:noFill/>
          <a:ln w="12700">
            <a:solidFill>
              <a:srgbClr val="5A7388">
                <a:alpha val="2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92624" y="2331720"/>
            <a:ext cx="2194560" cy="2194560"/>
          </a:xfrm>
          <a:prstGeom prst="ellipse">
            <a:avLst/>
          </a:prstGeom>
          <a:solidFill>
            <a:srgbClr val="F5F6F2">
              <a:alpha val="0"/>
            </a:srgbClr>
          </a:solidFill>
          <a:ln w="12700">
            <a:solidFill>
              <a:srgbClr val="5A7388">
                <a:alpha val="2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" y="1417320"/>
            <a:ext cx="1828800" cy="4041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5A7388">
                <a:alpha val="2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49256" y="1417320"/>
            <a:ext cx="1828800" cy="4041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5A7388">
                <a:alpha val="2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" y="2468880"/>
            <a:ext cx="603504" cy="1920240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5A7388">
                <a:alpha val="2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4552" y="2468880"/>
            <a:ext cx="603504" cy="1920240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5A7388">
                <a:alpha val="2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640080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1F3144"/>
          </a:solidFill>
          <a:ln w="12700">
            <a:solidFill>
              <a:srgbClr val="1F314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722376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Financeiro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822960" y="1115568"/>
            <a:ext cx="10561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Organização financeira sem atrito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22960" y="20848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dirty="0">
                <a:solidFill>
                  <a:srgbClr val="DAE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Saiba quem pagou, quem deve e quanto o grupo já recebeu com uma visão única de caixa.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877824" y="1993392"/>
            <a:ext cx="2542032" cy="3822192"/>
          </a:xfrm>
          <a:prstGeom prst="roundRect">
            <a:avLst>
              <a:gd name="adj" fmla="val 5755"/>
            </a:avLst>
          </a:prstGeom>
          <a:solidFill>
            <a:srgbClr val="172635"/>
          </a:solidFill>
          <a:ln w="12700">
            <a:solidFill>
              <a:srgbClr val="172635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78992" y="21945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Pendentes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78992" y="2724912"/>
            <a:ext cx="2139696" cy="676656"/>
          </a:xfrm>
          <a:prstGeom prst="roundRect">
            <a:avLst>
              <a:gd name="adj" fmla="val 18919"/>
            </a:avLst>
          </a:prstGeom>
          <a:solidFill>
            <a:srgbClr val="1F3144"/>
          </a:solidFill>
          <a:ln w="12700">
            <a:solidFill>
              <a:srgbClr val="D66F73">
                <a:alpha val="7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25296" y="2889504"/>
            <a:ext cx="347472" cy="347472"/>
          </a:xfrm>
          <a:prstGeom prst="ellipse">
            <a:avLst/>
          </a:prstGeom>
          <a:solidFill>
            <a:srgbClr val="D66F73"/>
          </a:solidFill>
          <a:ln w="12700">
            <a:solidFill>
              <a:srgbClr val="D66F7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296265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314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682496" y="2843784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João S.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1682496" y="3026664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9D7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Mensalidade em aberto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1078992" y="3493008"/>
            <a:ext cx="2139696" cy="676656"/>
          </a:xfrm>
          <a:prstGeom prst="roundRect">
            <a:avLst>
              <a:gd name="adj" fmla="val 18919"/>
            </a:avLst>
          </a:prstGeom>
          <a:solidFill>
            <a:srgbClr val="1F3144"/>
          </a:solidFill>
          <a:ln w="12700">
            <a:solidFill>
              <a:srgbClr val="D66F73">
                <a:alpha val="7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5296" y="3657600"/>
            <a:ext cx="347472" cy="347472"/>
          </a:xfrm>
          <a:prstGeom prst="ellipse">
            <a:avLst/>
          </a:prstGeom>
          <a:solidFill>
            <a:srgbClr val="D66F73"/>
          </a:solidFill>
          <a:ln w="12700">
            <a:solidFill>
              <a:srgbClr val="D66F7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5296" y="37307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314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X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1682496" y="3611880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Pedro J.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1682496" y="379476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9D7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Diária pendente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1078992" y="4261104"/>
            <a:ext cx="2139696" cy="676656"/>
          </a:xfrm>
          <a:prstGeom prst="roundRect">
            <a:avLst>
              <a:gd name="adj" fmla="val 18919"/>
            </a:avLst>
          </a:prstGeom>
          <a:solidFill>
            <a:srgbClr val="1F3144"/>
          </a:solidFill>
          <a:ln w="12700">
            <a:solidFill>
              <a:srgbClr val="D8A84C">
                <a:alpha val="7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25296" y="4425696"/>
            <a:ext cx="347472" cy="347472"/>
          </a:xfrm>
          <a:prstGeom prst="ellipse">
            <a:avLst/>
          </a:prstGeom>
          <a:solidFill>
            <a:srgbClr val="D8A84C"/>
          </a:solidFill>
          <a:ln w="12700">
            <a:solidFill>
              <a:srgbClr val="D8A84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25296" y="449884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314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!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682496" y="4379976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Lucas M.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1682496" y="4562856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9D7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 sem baixa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005072" y="2139696"/>
            <a:ext cx="4206240" cy="2212848"/>
          </a:xfrm>
          <a:prstGeom prst="roundRect">
            <a:avLst>
              <a:gd name="adj" fmla="val 6612"/>
            </a:avLst>
          </a:prstGeom>
          <a:solidFill>
            <a:srgbClr val="1F3144"/>
          </a:solidFill>
          <a:ln w="12700">
            <a:solidFill>
              <a:srgbClr val="1F3144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69664" y="2286000"/>
            <a:ext cx="4206240" cy="2212848"/>
          </a:xfrm>
          <a:prstGeom prst="roundRect">
            <a:avLst>
              <a:gd name="adj" fmla="val 6612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03904" y="2395728"/>
            <a:ext cx="4206240" cy="2212848"/>
          </a:xfrm>
          <a:prstGeom prst="roundRect">
            <a:avLst>
              <a:gd name="adj" fmla="val 6612"/>
            </a:avLst>
          </a:prstGeom>
          <a:solidFill>
            <a:srgbClr val="1F3144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14800" y="2706624"/>
            <a:ext cx="3584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D7E7D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Carteira unificada</a:t>
            </a:r>
            <a:endParaRPr lang="en-US" sz="1440" dirty="0"/>
          </a:p>
        </p:txBody>
      </p:sp>
      <p:sp>
        <p:nvSpPr>
          <p:cNvPr id="37" name="Text 35"/>
          <p:cNvSpPr/>
          <p:nvPr/>
        </p:nvSpPr>
        <p:spPr>
          <a:xfrm>
            <a:off x="4069080" y="30175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R$ 1.250,00</a:t>
            </a:r>
            <a:endParaRPr lang="en-US" sz="2700" dirty="0"/>
          </a:p>
        </p:txBody>
      </p:sp>
      <p:sp>
        <p:nvSpPr>
          <p:cNvPr id="38" name="Shape 36"/>
          <p:cNvSpPr/>
          <p:nvPr/>
        </p:nvSpPr>
        <p:spPr>
          <a:xfrm>
            <a:off x="4572000" y="3767328"/>
            <a:ext cx="2651760" cy="475488"/>
          </a:xfrm>
          <a:prstGeom prst="roundRect">
            <a:avLst>
              <a:gd name="adj" fmla="val 26923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B6837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0" y="3913632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Cobrar pendências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8759952" y="1993392"/>
            <a:ext cx="2542032" cy="3822192"/>
          </a:xfrm>
          <a:prstGeom prst="roundRect">
            <a:avLst>
              <a:gd name="adj" fmla="val 5755"/>
            </a:avLst>
          </a:prstGeom>
          <a:solidFill>
            <a:srgbClr val="172635"/>
          </a:solidFill>
          <a:ln w="12700">
            <a:solidFill>
              <a:srgbClr val="172635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979408" y="21945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Pagos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015984" y="2724912"/>
            <a:ext cx="2139696" cy="676656"/>
          </a:xfrm>
          <a:prstGeom prst="roundRect">
            <a:avLst>
              <a:gd name="adj" fmla="val 18919"/>
            </a:avLst>
          </a:prstGeom>
          <a:solidFill>
            <a:srgbClr val="1F3144"/>
          </a:solidFill>
          <a:ln w="12700">
            <a:solidFill>
              <a:srgbClr val="3DB377">
                <a:alpha val="7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62288" y="2889504"/>
            <a:ext cx="347472" cy="347472"/>
          </a:xfrm>
          <a:prstGeom prst="ellipse">
            <a:avLst/>
          </a:prstGeom>
          <a:solidFill>
            <a:srgbClr val="3DB377"/>
          </a:solidFill>
          <a:ln w="12700">
            <a:solidFill>
              <a:srgbClr val="3DB37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62288" y="296265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314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OK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9619488" y="2843784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Ricardo A.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9619488" y="3026664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9D7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Mensalidade paga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9015984" y="3493008"/>
            <a:ext cx="2139696" cy="676656"/>
          </a:xfrm>
          <a:prstGeom prst="roundRect">
            <a:avLst>
              <a:gd name="adj" fmla="val 18919"/>
            </a:avLst>
          </a:prstGeom>
          <a:solidFill>
            <a:srgbClr val="1F3144"/>
          </a:solidFill>
          <a:ln w="12700">
            <a:solidFill>
              <a:srgbClr val="3DB377">
                <a:alpha val="7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62288" y="3657600"/>
            <a:ext cx="347472" cy="347472"/>
          </a:xfrm>
          <a:prstGeom prst="ellipse">
            <a:avLst/>
          </a:prstGeom>
          <a:solidFill>
            <a:srgbClr val="3DB377"/>
          </a:solidFill>
          <a:ln w="12700">
            <a:solidFill>
              <a:srgbClr val="3DB37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62288" y="37307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314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OK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9619488" y="3611880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Mateus L.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9619488" y="3794760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9D7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Diária quitada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9015984" y="4261104"/>
            <a:ext cx="2139696" cy="676656"/>
          </a:xfrm>
          <a:prstGeom prst="roundRect">
            <a:avLst>
              <a:gd name="adj" fmla="val 18919"/>
            </a:avLst>
          </a:prstGeom>
          <a:solidFill>
            <a:srgbClr val="1F3144"/>
          </a:solidFill>
          <a:ln w="12700">
            <a:solidFill>
              <a:srgbClr val="3DB377">
                <a:alpha val="7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62288" y="4425696"/>
            <a:ext cx="347472" cy="347472"/>
          </a:xfrm>
          <a:prstGeom prst="ellipse">
            <a:avLst/>
          </a:prstGeom>
          <a:solidFill>
            <a:srgbClr val="3DB377"/>
          </a:solidFill>
          <a:ln w="12700">
            <a:solidFill>
              <a:srgbClr val="3DB377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62288" y="449884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F314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OK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9619488" y="4379976"/>
            <a:ext cx="12252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Carlos R.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9619488" y="4562856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9D7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Baixa confirmada</a:t>
            </a:r>
            <a:endParaRPr lang="en-US" sz="830" dirty="0"/>
          </a:p>
        </p:txBody>
      </p:sp>
      <p:sp>
        <p:nvSpPr>
          <p:cNvPr id="57" name="Text 55"/>
          <p:cNvSpPr/>
          <p:nvPr/>
        </p:nvSpPr>
        <p:spPr>
          <a:xfrm>
            <a:off x="1874520" y="6272784"/>
            <a:ext cx="8412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Fim das discussões. Controle absoluto de fluxo de caixa e pendências do grupo.</a:t>
            </a:r>
            <a:endParaRPr lang="en-US" sz="12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822960"/>
            <a:ext cx="2468880" cy="2468880"/>
          </a:xfrm>
          <a:prstGeom prst="ellipse">
            <a:avLst/>
          </a:prstGeom>
          <a:solidFill>
            <a:srgbClr val="D8F1E4">
              <a:alpha val="86000"/>
            </a:srgbClr>
          </a:solidFill>
          <a:ln w="12700">
            <a:solidFill>
              <a:srgbClr val="D8F1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800600"/>
            <a:ext cx="2377440" cy="2377440"/>
          </a:xfrm>
          <a:prstGeom prst="ellipse">
            <a:avLst/>
          </a:prstGeom>
          <a:solidFill>
            <a:srgbClr val="E6EEF8">
              <a:alpha val="72000"/>
            </a:srgbClr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76" y="274320"/>
            <a:ext cx="0" cy="6327648"/>
          </a:xfrm>
          <a:prstGeom prst="line">
            <a:avLst/>
          </a:prstGeom>
          <a:noFill/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2624" y="2331720"/>
            <a:ext cx="2194560" cy="2194560"/>
          </a:xfrm>
          <a:prstGeom prst="ellipse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1417320"/>
            <a:ext cx="1828800" cy="4041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49256" y="1417320"/>
            <a:ext cx="1828800" cy="4041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2468880"/>
            <a:ext cx="603504" cy="1920240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4552" y="2468880"/>
            <a:ext cx="603504" cy="1920240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74980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749808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68712" y="74980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48672" y="923544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79024" y="74980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48672" y="1097280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89336" y="749808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48672" y="1271016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694944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7772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Expansão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051560" y="1170432"/>
            <a:ext cx="9875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Um ecossistema para todos os níveis do jogo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51560" y="213969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mesma base de produto atende organizadores independentes e camadas maiores de operação esportiva.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4992624" y="2834640"/>
            <a:ext cx="2286000" cy="2286000"/>
          </a:xfrm>
          <a:prstGeom prst="ellipse">
            <a:avLst/>
          </a:prstGeom>
          <a:solidFill>
            <a:srgbClr val="D8F1E4"/>
          </a:solidFill>
          <a:ln w="12700">
            <a:solidFill>
              <a:srgbClr val="16A34A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3054096"/>
            <a:ext cx="1847088" cy="1847088"/>
          </a:xfrm>
          <a:prstGeom prst="ellipse">
            <a:avLst/>
          </a:prstGeom>
          <a:solidFill>
            <a:srgbClr val="0F5F3F"/>
          </a:solidFill>
          <a:ln w="12700">
            <a:solidFill>
              <a:srgbClr val="0F5F3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295B45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40680" y="3712464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CONVOCA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6126480" y="2834640"/>
            <a:ext cx="0" cy="-621792"/>
          </a:xfrm>
          <a:prstGeom prst="line">
            <a:avLst/>
          </a:prstGeom>
          <a:noFill/>
          <a:ln w="27940">
            <a:solidFill>
              <a:srgbClr val="0F5F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47488" y="3858768"/>
            <a:ext cx="-969264" cy="-329184"/>
          </a:xfrm>
          <a:prstGeom prst="line">
            <a:avLst/>
          </a:prstGeom>
          <a:noFill/>
          <a:ln w="27940">
            <a:solidFill>
              <a:srgbClr val="0F5F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87184" y="3858768"/>
            <a:ext cx="932688" cy="-329184"/>
          </a:xfrm>
          <a:prstGeom prst="line">
            <a:avLst/>
          </a:prstGeom>
          <a:noFill/>
          <a:ln w="27940">
            <a:solidFill>
              <a:srgbClr val="0F5F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49824" y="4700016"/>
            <a:ext cx="-896112" cy="804672"/>
          </a:xfrm>
          <a:prstGeom prst="line">
            <a:avLst/>
          </a:prstGeom>
          <a:noFill/>
          <a:ln w="27940">
            <a:solidFill>
              <a:srgbClr val="0F5F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11696" y="4700016"/>
            <a:ext cx="1060704" cy="804672"/>
          </a:xfrm>
          <a:prstGeom prst="line">
            <a:avLst/>
          </a:prstGeom>
          <a:noFill/>
          <a:ln w="27940">
            <a:solidFill>
              <a:srgbClr val="0F5F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58768" y="1554480"/>
            <a:ext cx="4462272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58768" y="1554480"/>
            <a:ext cx="446227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1719072"/>
            <a:ext cx="4169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Organizadores independentes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05072" y="1965960"/>
            <a:ext cx="4169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power-user clássico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932688" y="3163824"/>
            <a:ext cx="2852928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32688" y="3163824"/>
            <a:ext cx="2852928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33284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Arenas e quadras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78992" y="357530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Parceiros de infraestrutura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412480" y="3163824"/>
            <a:ext cx="2852928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412480" y="3163824"/>
            <a:ext cx="2852928" cy="73152"/>
          </a:xfrm>
          <a:prstGeom prst="rect">
            <a:avLst/>
          </a:prstGeom>
          <a:solidFill>
            <a:srgbClr val="0F5F3F"/>
          </a:solidFill>
          <a:ln w="12700">
            <a:solidFill>
              <a:srgbClr val="0F5F3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58784" y="33284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Grupos society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558784" y="357530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Ligas amadoras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1700784" y="5376672"/>
            <a:ext cx="2816352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700784" y="5376672"/>
            <a:ext cx="281635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47088" y="5541264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Empresas e RH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847088" y="57881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corporativa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7662672" y="5376672"/>
            <a:ext cx="2816352" cy="841248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662672" y="5376672"/>
            <a:ext cx="28163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08976" y="5541264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Condomínios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808976" y="5788152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de áreas de lazer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822960"/>
            <a:ext cx="2468880" cy="2468880"/>
          </a:xfrm>
          <a:prstGeom prst="ellipse">
            <a:avLst/>
          </a:prstGeom>
          <a:solidFill>
            <a:srgbClr val="D8F1E4">
              <a:alpha val="86000"/>
            </a:srgbClr>
          </a:solidFill>
          <a:ln w="12700">
            <a:solidFill>
              <a:srgbClr val="D8F1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800600"/>
            <a:ext cx="2377440" cy="2377440"/>
          </a:xfrm>
          <a:prstGeom prst="ellipse">
            <a:avLst/>
          </a:prstGeom>
          <a:solidFill>
            <a:srgbClr val="E6EEF8">
              <a:alpha val="72000"/>
            </a:srgbClr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76" y="274320"/>
            <a:ext cx="0" cy="6327648"/>
          </a:xfrm>
          <a:prstGeom prst="line">
            <a:avLst/>
          </a:prstGeom>
          <a:noFill/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92624" y="2331720"/>
            <a:ext cx="2194560" cy="2194560"/>
          </a:xfrm>
          <a:prstGeom prst="ellipse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1417320"/>
            <a:ext cx="1828800" cy="4041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49256" y="1417320"/>
            <a:ext cx="1828800" cy="4041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2468880"/>
            <a:ext cx="603504" cy="1920240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4552" y="2468880"/>
            <a:ext cx="603504" cy="1920240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21240" y="86868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11512" y="868680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31552" y="86868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11512" y="1042416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41864" y="86868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11512" y="1216152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52176" y="86868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11512" y="1389888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694944"/>
            <a:ext cx="1378915" cy="310896"/>
          </a:xfrm>
          <a:prstGeom prst="roundRect">
            <a:avLst>
              <a:gd name="adj" fmla="val 29412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777240"/>
            <a:ext cx="13789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Diferenciais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22960" y="1170432"/>
            <a:ext cx="10241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Os nossos diferenciais injustos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22960" y="213969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é só uma planilha bonita. É uma camada de produto que reduz atrito, memória operacional e conflito.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841248" y="2011680"/>
            <a:ext cx="521208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2011680"/>
            <a:ext cx="109728" cy="16642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8992" y="2304288"/>
            <a:ext cx="658368" cy="658368"/>
          </a:xfrm>
          <a:prstGeom prst="ellipse">
            <a:avLst/>
          </a:prstGeom>
          <a:solidFill>
            <a:srgbClr val="E7F5EC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25146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A34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1920240" y="2322576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Profissionalização real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20240" y="2724912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Eleva a percepção do grupo com experiência de produto, não de improviso operacional.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181344" y="2011680"/>
            <a:ext cx="516636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81344" y="2011680"/>
            <a:ext cx="109728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2304288"/>
            <a:ext cx="658368" cy="658368"/>
          </a:xfrm>
          <a:prstGeom prst="ellipse">
            <a:avLst/>
          </a:prstGeom>
          <a:solidFill>
            <a:srgbClr val="E6EEF8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251460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7260336" y="2322576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Zero conflito desnecessário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60336" y="2724912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Regras visíveis para presença, times e pagamentos tiram a discussão do campo errado.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41248" y="3968496"/>
            <a:ext cx="521208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1248" y="3968496"/>
            <a:ext cx="109728" cy="1664208"/>
          </a:xfrm>
          <a:prstGeom prst="rect">
            <a:avLst/>
          </a:prstGeom>
          <a:solidFill>
            <a:srgbClr val="0F5F3F"/>
          </a:solidFill>
          <a:ln w="12700">
            <a:solidFill>
              <a:srgbClr val="0F5F3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61104"/>
            <a:ext cx="658368" cy="658368"/>
          </a:xfrm>
          <a:prstGeom prst="ellipse">
            <a:avLst/>
          </a:prstGeom>
          <a:solidFill>
            <a:srgbClr val="E6EEF8"/>
          </a:solidFill>
          <a:ln w="12700">
            <a:solidFill>
              <a:srgbClr val="0F5F3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47141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1920240" y="427939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Economia máxima de tempo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920240" y="4681728"/>
            <a:ext cx="3913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organizador volta a focar em jogar, não em perseguir mensagens e repassar planilha.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181344" y="3968496"/>
            <a:ext cx="5166360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D9E0E4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81344" y="3968496"/>
            <a:ext cx="109728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9088" y="4261104"/>
            <a:ext cx="658368" cy="658368"/>
          </a:xfrm>
          <a:prstGeom prst="ellipse">
            <a:avLst/>
          </a:prstGeom>
          <a:solidFill>
            <a:srgbClr val="E6EEF8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447141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7260336" y="427939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Memória esportiva e financeira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60336" y="4681728"/>
            <a:ext cx="3867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040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fica registrado: participação, desempenho, rankings, cobranças e histórico do grupo.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822960"/>
            <a:ext cx="2468880" cy="2468880"/>
          </a:xfrm>
          <a:prstGeom prst="ellipse">
            <a:avLst/>
          </a:prstGeom>
          <a:solidFill>
            <a:srgbClr val="D8F1E4">
              <a:alpha val="86000"/>
            </a:srgbClr>
          </a:solidFill>
          <a:ln w="12700">
            <a:solidFill>
              <a:srgbClr val="D8F1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800600"/>
            <a:ext cx="2377440" cy="2377440"/>
          </a:xfrm>
          <a:prstGeom prst="ellipse">
            <a:avLst/>
          </a:prstGeom>
          <a:solidFill>
            <a:srgbClr val="E6EEF8">
              <a:alpha val="72000"/>
            </a:srgbClr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76688" y="82296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822960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0" y="82296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0" y="996696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97312" y="82296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0" y="1170432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07624" y="822960"/>
            <a:ext cx="0" cy="713232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1344168"/>
            <a:ext cx="841248" cy="0"/>
          </a:xfrm>
          <a:prstGeom prst="line">
            <a:avLst/>
          </a:prstGeom>
          <a:noFill/>
          <a:ln w="10160">
            <a:solidFill>
              <a:srgbClr val="D7DED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694944"/>
            <a:ext cx="1581912" cy="310896"/>
          </a:xfrm>
          <a:prstGeom prst="roundRect">
            <a:avLst>
              <a:gd name="adj" fmla="val 29412"/>
            </a:avLst>
          </a:prstGeom>
          <a:solidFill>
            <a:srgbClr val="E7F5EC"/>
          </a:solidFill>
          <a:ln w="12700">
            <a:solidFill>
              <a:srgbClr val="E7F5E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777240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5F3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Produto em ação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822960" y="1170432"/>
            <a:ext cx="10424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Tela inicial, presença, rankings e financeiro em uma experiência móvel consistente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213969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dirty="0">
                <a:solidFill>
                  <a:srgbClr val="6674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prints do produto entram no deck dentro de moldura nativa de dispositivo para manter leitura boa também no PDF.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786384" y="1975104"/>
            <a:ext cx="10625328" cy="4517136"/>
          </a:xfrm>
          <a:prstGeom prst="roundRect">
            <a:avLst>
              <a:gd name="adj" fmla="val 3239"/>
            </a:avLst>
          </a:prstGeom>
          <a:solidFill>
            <a:srgbClr val="FBFCFD"/>
          </a:solidFill>
          <a:ln w="12700">
            <a:solidFill>
              <a:srgbClr val="E5EAEE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2084832"/>
            <a:ext cx="1572768" cy="4114800"/>
          </a:xfrm>
          <a:prstGeom prst="roundRect">
            <a:avLst>
              <a:gd name="adj" fmla="val 16279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88136" y="2185416"/>
            <a:ext cx="1371600" cy="3913632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26464" y="2212848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Image 0" descr="C:\Users\Luisf\Documents\GITHUB\peladeiros\docs\presentation\extracted-images\obj-022-417x9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789666"/>
            <a:ext cx="1280160" cy="2778285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499616" y="608076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632764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Dashboard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3081528" y="2084832"/>
            <a:ext cx="1572768" cy="4114800"/>
          </a:xfrm>
          <a:prstGeom prst="roundRect">
            <a:avLst>
              <a:gd name="adj" fmla="val 16279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182112" y="2185416"/>
            <a:ext cx="1371600" cy="3913632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20440" y="2212848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7" name="Image 1" descr="C:\Users\Luisf\Documents\GITHUB\peladeiros\docs\presentation\extracted-images\obj-023-417x90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2789666"/>
            <a:ext cx="1280160" cy="2778285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3593592" y="608076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081528" y="632764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Presença</a:t>
            </a:r>
            <a:endParaRPr lang="en-US" sz="880" dirty="0"/>
          </a:p>
        </p:txBody>
      </p:sp>
      <p:sp>
        <p:nvSpPr>
          <p:cNvPr id="30" name="Shape 26"/>
          <p:cNvSpPr/>
          <p:nvPr/>
        </p:nvSpPr>
        <p:spPr>
          <a:xfrm>
            <a:off x="5248656" y="2084832"/>
            <a:ext cx="1572768" cy="4114800"/>
          </a:xfrm>
          <a:prstGeom prst="roundRect">
            <a:avLst>
              <a:gd name="adj" fmla="val 16279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5349240" y="2185416"/>
            <a:ext cx="1371600" cy="3913632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687568" y="2212848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Image 2" descr="C:\Users\Luisf\Documents\GITHUB\peladeiros\docs\presentation\extracted-images\obj-033-417x90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789666"/>
            <a:ext cx="1280160" cy="2778285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5760720" y="608076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248656" y="632764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Rankings</a:t>
            </a:r>
            <a:endParaRPr lang="en-US" sz="880" dirty="0"/>
          </a:p>
        </p:txBody>
      </p:sp>
      <p:sp>
        <p:nvSpPr>
          <p:cNvPr id="36" name="Shape 31"/>
          <p:cNvSpPr/>
          <p:nvPr/>
        </p:nvSpPr>
        <p:spPr>
          <a:xfrm>
            <a:off x="7498080" y="2084832"/>
            <a:ext cx="1572768" cy="4114800"/>
          </a:xfrm>
          <a:prstGeom prst="roundRect">
            <a:avLst>
              <a:gd name="adj" fmla="val 16279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7598664" y="2185416"/>
            <a:ext cx="1371600" cy="3913632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936992" y="2212848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9" name="Image 3" descr="C:\Users\Luisf\Documents\GITHUB\peladeiros\docs\presentation\extracted-images\obj-030-422x91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793990"/>
            <a:ext cx="1280160" cy="2769635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8010144" y="608076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498080" y="632764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Financeiro</a:t>
            </a:r>
            <a:endParaRPr lang="en-US" sz="880" dirty="0"/>
          </a:p>
        </p:txBody>
      </p:sp>
      <p:sp>
        <p:nvSpPr>
          <p:cNvPr id="42" name="Shape 36"/>
          <p:cNvSpPr/>
          <p:nvPr/>
        </p:nvSpPr>
        <p:spPr>
          <a:xfrm>
            <a:off x="9592056" y="2084832"/>
            <a:ext cx="1572768" cy="4114800"/>
          </a:xfrm>
          <a:prstGeom prst="roundRect">
            <a:avLst>
              <a:gd name="adj" fmla="val 16279"/>
            </a:avLst>
          </a:prstGeom>
          <a:solidFill>
            <a:srgbClr val="0E141B"/>
          </a:solidFill>
          <a:ln w="12700">
            <a:solidFill>
              <a:srgbClr val="0E141B">
                <a:alpha val="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243140">
                <a:alpha val="30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9692640" y="2185416"/>
            <a:ext cx="1371600" cy="3913632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0030968" y="2212848"/>
            <a:ext cx="694944" cy="7315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5" name="Image 4" descr="C:\Users\Luisf\Documents\GITHUB\peladeiros\docs\presentation\extracted-images\obj-034-263x57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2789129"/>
            <a:ext cx="1280160" cy="2779359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10104120" y="6080760"/>
            <a:ext cx="548640" cy="36576"/>
          </a:xfrm>
          <a:prstGeom prst="roundRect">
            <a:avLst>
              <a:gd name="adj" fmla="val 50000"/>
            </a:avLst>
          </a:prstGeom>
          <a:solidFill>
            <a:srgbClr val="C9D2D9"/>
          </a:solidFill>
          <a:ln w="12700">
            <a:solidFill>
              <a:srgbClr val="C9D2D9">
                <a:alpha val="0"/>
              </a:srgbClr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9592056" y="632764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Cobranças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4251960"/>
            <a:ext cx="3108960" cy="3108960"/>
          </a:xfrm>
          <a:prstGeom prst="ellipse">
            <a:avLst/>
          </a:prstGeom>
          <a:solidFill>
            <a:srgbClr val="D8F1E4">
              <a:alpha val="78000"/>
            </a:srgbClr>
          </a:solidFill>
          <a:ln w="12700">
            <a:solidFill>
              <a:srgbClr val="D8F1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731520"/>
            <a:ext cx="2743200" cy="2743200"/>
          </a:xfrm>
          <a:prstGeom prst="ellipse">
            <a:avLst/>
          </a:prstGeom>
          <a:solidFill>
            <a:srgbClr val="E6EEF8">
              <a:alpha val="78000"/>
            </a:srgbClr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" y="274320"/>
            <a:ext cx="11558016" cy="6327648"/>
          </a:xfrm>
          <a:prstGeom prst="rect">
            <a:avLst/>
          </a:prstGeom>
          <a:solidFill>
            <a:srgbClr val="F5F6F2">
              <a:alpha val="0"/>
            </a:srgbClr>
          </a:solidFill>
          <a:ln w="12700">
            <a:solidFill>
              <a:srgbClr val="D7DED8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73184" y="566928"/>
            <a:ext cx="17922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66747D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www.uzzai.com.br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841248" y="1225296"/>
            <a:ext cx="4032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6A34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CONVO</a:t>
            </a:r>
            <a:pPr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77824" y="2816352"/>
            <a:ext cx="56509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estrutura profissional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0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 sua pelada merece.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6112" y="52303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436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Vamos escalar juntos?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863840" y="859536"/>
            <a:ext cx="3822192" cy="5468112"/>
          </a:xfrm>
          <a:prstGeom prst="roundRect">
            <a:avLst>
              <a:gd name="adj" fmla="val 3828"/>
            </a:avLst>
          </a:prstGeom>
          <a:solidFill>
            <a:srgbClr val="102436"/>
          </a:solidFill>
          <a:ln w="12700">
            <a:solidFill>
              <a:srgbClr val="102436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7B879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11312" y="11704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Pronto para entrar em campo?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47888" y="2286000"/>
            <a:ext cx="512064" cy="237744"/>
          </a:xfrm>
          <a:prstGeom prst="roundRect">
            <a:avLst>
              <a:gd name="adj" fmla="val 38462"/>
            </a:avLst>
          </a:prstGeom>
          <a:solidFill>
            <a:srgbClr val="1F3144"/>
          </a:solidFill>
          <a:ln w="12700">
            <a:solidFill>
              <a:srgbClr val="1F314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888" y="2368296"/>
            <a:ext cx="5120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WEB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8942832" y="2340864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convoca.app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247888" y="2779776"/>
            <a:ext cx="640080" cy="237744"/>
          </a:xfrm>
          <a:prstGeom prst="roundRect">
            <a:avLst>
              <a:gd name="adj" fmla="val 38462"/>
            </a:avLst>
          </a:prstGeom>
          <a:solidFill>
            <a:srgbClr val="1F3144"/>
          </a:solidFill>
          <a:ln w="12700">
            <a:solidFill>
              <a:srgbClr val="1F314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286207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MAIL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8942832" y="2834640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ola@convoca.app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247888" y="3273552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1F3144"/>
          </a:solidFill>
          <a:ln w="12700">
            <a:solidFill>
              <a:srgbClr val="1F314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335584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CALL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8942832" y="332841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(11) 99999-0000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211312" y="4370832"/>
            <a:ext cx="155448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pic>
        <p:nvPicPr>
          <p:cNvPr id="21" name="Image 0" descr="C:\Users\Luisf\Documents\GITHUB\peladeiros\docs\presentation\output\convoca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4" y="4443984"/>
            <a:ext cx="1408176" cy="14081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948672" y="4681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Escaneie para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testar agora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Convoca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Convoca</dc:title>
  <dc:subject>Apresentacao editavel do Convoca</dc:subject>
  <dc:creator>OpenAI Codex</dc:creator>
  <cp:lastModifiedBy>OpenAI Codex</cp:lastModifiedBy>
  <cp:revision>1</cp:revision>
  <dcterms:created xsi:type="dcterms:W3CDTF">2026-03-19T21:41:20Z</dcterms:created>
  <dcterms:modified xsi:type="dcterms:W3CDTF">2026-03-19T21:41:20Z</dcterms:modified>
</cp:coreProperties>
</file>